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82" r:id="rId2"/>
    <p:sldId id="267" r:id="rId3"/>
    <p:sldId id="270" r:id="rId4"/>
    <p:sldId id="268" r:id="rId5"/>
    <p:sldId id="280" r:id="rId6"/>
    <p:sldId id="269" r:id="rId7"/>
    <p:sldId id="271" r:id="rId8"/>
    <p:sldId id="272" r:id="rId9"/>
    <p:sldId id="276" r:id="rId10"/>
    <p:sldId id="273" r:id="rId11"/>
    <p:sldId id="275" r:id="rId12"/>
    <p:sldId id="274" r:id="rId13"/>
    <p:sldId id="284" r:id="rId14"/>
    <p:sldId id="281" r:id="rId15"/>
  </p:sldIdLst>
  <p:sldSz cx="12192000" cy="6858000"/>
  <p:notesSz cx="6858000" cy="12192000"/>
  <p:embeddedFontLst>
    <p:embeddedFont>
      <p:font typeface="Segoe UI" panose="020B0502040204020203" pitchFamily="34" charset="0"/>
      <p:regular r:id="rId17"/>
      <p:bold r:id="rId18"/>
      <p:italic r:id="rId19"/>
      <p:boldItalic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7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9070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E4F29-6A87-F645-90E2-033292E35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33E441-EDF7-B88F-2CBE-F179FC396A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7F489D-CA2F-DCE7-ABBD-65B6D0ADF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D5DE5-B2D6-20FF-5888-17EA0B9C68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210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793C4-15CE-C27F-7856-AF894A5E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157E68-CF1A-5A04-315A-59CDC44A63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6130B-4592-A3A7-E677-E81FAC577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4588C-2E79-F2E9-8569-AD34B0AF67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04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34D30-95DF-7BD6-A773-D03F81497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E9623-562B-DC49-C73C-824AE58E8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14C03C-61E7-67F8-AE40-9C8E15519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CECFB-1F0B-F7FF-5068-D3BF1CC6CB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40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87AC2-31BC-D924-AE9A-11FEDC5FB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A45873-F654-57EA-5731-757AB857F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410B50-DAEC-A3AE-2C7C-62AB11C1C5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0350D-9C05-3210-9302-58D2025C2E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564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127AF-F50C-AF13-5D85-6E576E27E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E7A85B-E5E8-5EF4-F1B4-817030789C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5E8977-D935-7557-F552-297D17F1F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38034-D363-FDFC-B991-8D5A0347AD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392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82D31-491B-AC2F-26A5-D0EE949A5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81EC0F-A2F0-A3DC-EAB8-4EB86424D2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F7FF44-AEA3-9696-93D2-46C2592716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53131-65EB-B673-B5C0-47A3F5A2D6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8460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CC0E5-D439-BF49-6549-58E3CBFEC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877AF8-58D3-2B05-4144-D6A82744D0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C83AC4-58AD-A1B4-B988-48C046C5E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42975-94C9-4B72-BE30-DDFFF1697E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157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878A5-9932-D3B3-3C58-6CF01204F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26C92-7A07-C17B-5596-022C2B21C0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137C4C-6EC0-0592-07D1-12C529ABD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3553A-D68D-52C7-6659-74E8246308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671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0ED9F-4501-751F-00D3-7D0D67C9C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33FC7C-1104-828C-B6DC-6755192489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12B3F4-5F98-C6BD-993E-215B52391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F6707-3CEE-4D28-E12B-09AC6CF154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2644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9B71E-8471-E4E2-A5E9-A1D3E0A81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B8C1E1-BE6F-3296-2835-548ECC5B53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24CB42-8E92-C7BE-D235-3426B2A37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B22DC-812F-8739-6528-3C8A19CD16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6154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9104A-5465-092C-C82F-1A4DF951A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EBBFBA-7397-B45E-0D85-0DE2710A9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F53AA7-32D2-CFAF-6C73-9FB5453D8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190B1-9817-140D-5995-7CABCC73C7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4625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A3EE8-467C-E2FE-539C-49C35E184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23FC4B-E1A8-1627-0729-F385A22507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AA7CCE-8137-5DB4-5E5E-08D3E6613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D34CF-3B43-2613-6D78-3D217ED90A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1171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880A6-A666-4F6C-C52F-8D15ACA41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A97F8D-EFBB-2173-7388-89613FFC13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432B72-3AD7-8B2E-C720-1CC15E2A7E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2AD70-EC5F-68BD-43AF-D71B712156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8365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66708-694E-C2D3-4EB4-515D55D6C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6F6E71-1663-1068-F943-5B4290F6B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117A4A-BDA3-FF03-D0A2-7B1EC977B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96C01-F80F-1882-11A5-73F9BCA0C9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485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7C05A8-8D3F-952E-001B-8F764BF16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C2886A-8F41-9179-CEFB-71610A507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280" y="73872"/>
            <a:ext cx="5901439" cy="9571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B10E07-F965-3A10-18E1-12AAD044034E}"/>
              </a:ext>
            </a:extLst>
          </p:cNvPr>
          <p:cNvSpPr txBox="1"/>
          <p:nvPr/>
        </p:nvSpPr>
        <p:spPr>
          <a:xfrm>
            <a:off x="3047999" y="1198245"/>
            <a:ext cx="6096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CSE430: SOFTWARE TESTING AND QUALITY ASSURANCE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SESSION: SUMMER 2026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SECTION: 01</a:t>
            </a:r>
          </a:p>
          <a:p>
            <a:endParaRPr lang="en-US" sz="1600" b="1" dirty="0">
              <a:solidFill>
                <a:srgbClr val="0070C0"/>
              </a:solidFill>
            </a:endParaRPr>
          </a:p>
          <a:p>
            <a:pPr algn="ctr"/>
            <a:r>
              <a:rPr lang="en-US" sz="1600" b="1" dirty="0">
                <a:solidFill>
                  <a:srgbClr val="0070C0"/>
                </a:solidFill>
              </a:rPr>
              <a:t>PROJECT NAME: CAR SHOP MANAGEMENT SYSTEM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PROGRAMMING LANGUAGE: JAVA</a:t>
            </a:r>
          </a:p>
          <a:p>
            <a:endParaRPr lang="en-US" sz="1600" u="sng" dirty="0">
              <a:solidFill>
                <a:schemeClr val="bg1"/>
              </a:solidFill>
            </a:endParaRPr>
          </a:p>
          <a:p>
            <a:pPr algn="ctr"/>
            <a:r>
              <a:rPr lang="en-US" sz="1600" u="sng" dirty="0">
                <a:solidFill>
                  <a:schemeClr val="bg1"/>
                </a:solidFill>
              </a:rPr>
              <a:t>SUBMITTED TO: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SHARTAZ SAJID NAHID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LECTURER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DEPARTMENT OF COMPUTER SCIENCE AND ENGINEERING</a:t>
            </a:r>
          </a:p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pPr algn="ctr"/>
            <a:r>
              <a:rPr lang="en-US" sz="1600" u="sng" dirty="0">
                <a:solidFill>
                  <a:schemeClr val="bg1"/>
                </a:solidFill>
              </a:rPr>
              <a:t>SUBMITTED BY: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TEAM NAME: STACK UNDERFLOW</a:t>
            </a:r>
          </a:p>
          <a:p>
            <a:pPr algn="ctr"/>
            <a:endParaRPr lang="en-US" sz="1600" dirty="0">
              <a:solidFill>
                <a:schemeClr val="bg1"/>
              </a:solidFill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SUJOY KARMAKAR--------2023-3-60-514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SHAHRIAR AREFIN--------2023-3-60-517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MD. SADMAN--------------2023-2-60-304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RUDBATUNNESA----------2021-3-60-006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LIMA PRODHAN-----------2021-3-60-180</a:t>
            </a:r>
          </a:p>
        </p:txBody>
      </p:sp>
    </p:spTree>
    <p:extLst>
      <p:ext uri="{BB962C8B-B14F-4D97-AF65-F5344CB8AC3E}">
        <p14:creationId xmlns:p14="http://schemas.microsoft.com/office/powerpoint/2010/main" val="1145426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BF7A8B-2BB2-C843-7E93-2F39F4FA5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9FCD3520-F00E-771F-7D80-EF4F918EC1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9444"/>
          <a:stretch>
            <a:fillRect/>
          </a:stretch>
        </p:blipFill>
        <p:spPr>
          <a:xfrm>
            <a:off x="7567919" y="0"/>
            <a:ext cx="4623776" cy="68580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F6F276CA-16C7-C139-BB1B-C8AC9CF3B214}"/>
              </a:ext>
            </a:extLst>
          </p:cNvPr>
          <p:cNvSpPr/>
          <p:nvPr/>
        </p:nvSpPr>
        <p:spPr>
          <a:xfrm>
            <a:off x="661475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Car Shop Management System</a:t>
            </a:r>
            <a:endParaRPr lang="en-US" sz="3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DC5C53B3-4690-ABE0-F584-912382F0CBB5}"/>
              </a:ext>
            </a:extLst>
          </p:cNvPr>
          <p:cNvSpPr/>
          <p:nvPr/>
        </p:nvSpPr>
        <p:spPr>
          <a:xfrm>
            <a:off x="661475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Segoe UI" panose="020B0502040204020203" pitchFamily="34" charset="0"/>
                <a:ea typeface="Noto Sans" pitchFamily="34" charset="-122"/>
                <a:cs typeface="Segoe UI" panose="020B0502040204020203" pitchFamily="34" charset="0"/>
              </a:rPr>
              <a:t>Testing &amp; Quality Assurance Overview</a:t>
            </a:r>
            <a:endParaRPr lang="en-US" sz="14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792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35A6A7-8146-8762-6740-36FF00B82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A2A7F5C-9159-799F-B284-E49843ABAD9E}"/>
              </a:ext>
            </a:extLst>
          </p:cNvPr>
          <p:cNvSpPr/>
          <p:nvPr/>
        </p:nvSpPr>
        <p:spPr>
          <a:xfrm>
            <a:off x="3855684" y="867618"/>
            <a:ext cx="345332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600" dirty="0">
                <a:solidFill>
                  <a:srgbClr val="97B8FF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Project Overview</a:t>
            </a:r>
            <a:endParaRPr lang="en-US" sz="3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07282498-D321-3B2A-305D-46DB886B2992}"/>
              </a:ext>
            </a:extLst>
          </p:cNvPr>
          <p:cNvSpPr/>
          <p:nvPr/>
        </p:nvSpPr>
        <p:spPr>
          <a:xfrm>
            <a:off x="1136384" y="1985240"/>
            <a:ext cx="4369471" cy="1769566"/>
          </a:xfrm>
          <a:prstGeom prst="roundRect">
            <a:avLst>
              <a:gd name="adj" fmla="val 1674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88F26ABD-A1A7-AA9E-49A4-1DC2865C9FE6}"/>
              </a:ext>
            </a:extLst>
          </p:cNvPr>
          <p:cNvSpPr/>
          <p:nvPr/>
        </p:nvSpPr>
        <p:spPr>
          <a:xfrm>
            <a:off x="1316247" y="2174251"/>
            <a:ext cx="505293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E0D6DE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Application Type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F9DC943-8797-E466-8F19-0601B59A4E74}"/>
              </a:ext>
            </a:extLst>
          </p:cNvPr>
          <p:cNvSpPr/>
          <p:nvPr/>
        </p:nvSpPr>
        <p:spPr>
          <a:xfrm>
            <a:off x="1316247" y="2582933"/>
            <a:ext cx="4024238" cy="1030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3300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Segoe UI" panose="020B0502040204020203" pitchFamily="34" charset="0"/>
                <a:ea typeface="Noto Sans" pitchFamily="34" charset="-122"/>
                <a:cs typeface="Segoe UI" panose="020B0502040204020203" pitchFamily="34" charset="0"/>
              </a:rPr>
              <a:t>A comprehensive GUI-based desktop application built with </a:t>
            </a:r>
            <a:r>
              <a:rPr lang="en-US" b="1" dirty="0">
                <a:solidFill>
                  <a:srgbClr val="E0D6DE"/>
                </a:solidFill>
                <a:latin typeface="Segoe UI" panose="020B0502040204020203" pitchFamily="34" charset="0"/>
                <a:ea typeface="Noto Sans Bold" pitchFamily="34" charset="-122"/>
                <a:cs typeface="Segoe UI" panose="020B0502040204020203" pitchFamily="34" charset="0"/>
              </a:rPr>
              <a:t>Java </a:t>
            </a:r>
            <a:r>
              <a:rPr lang="en-US" dirty="0">
                <a:solidFill>
                  <a:srgbClr val="E0D6DE"/>
                </a:solidFill>
                <a:latin typeface="Segoe UI" panose="020B0502040204020203" pitchFamily="34" charset="0"/>
                <a:ea typeface="Noto Sans Bold" pitchFamily="34" charset="-122"/>
                <a:cs typeface="Segoe UI" panose="020B0502040204020203" pitchFamily="34" charset="0"/>
              </a:rPr>
              <a:t>and features a user-friendly interface. 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74234F7B-0027-447A-4A85-B84969B80635}"/>
              </a:ext>
            </a:extLst>
          </p:cNvPr>
          <p:cNvSpPr/>
          <p:nvPr/>
        </p:nvSpPr>
        <p:spPr>
          <a:xfrm>
            <a:off x="6189780" y="1996714"/>
            <a:ext cx="4779204" cy="1763789"/>
          </a:xfrm>
          <a:prstGeom prst="roundRect">
            <a:avLst>
              <a:gd name="adj" fmla="val 1674"/>
            </a:avLst>
          </a:prstGeom>
          <a:solidFill>
            <a:srgbClr val="26262B"/>
          </a:solidFill>
          <a:ln/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82450A29-8168-0555-E186-DA062B351724}"/>
              </a:ext>
            </a:extLst>
          </p:cNvPr>
          <p:cNvSpPr/>
          <p:nvPr/>
        </p:nvSpPr>
        <p:spPr>
          <a:xfrm>
            <a:off x="6369185" y="2182995"/>
            <a:ext cx="26759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E0D6DE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Core Functions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010D27BC-236B-9428-4DC6-3225279052A9}"/>
              </a:ext>
            </a:extLst>
          </p:cNvPr>
          <p:cNvSpPr/>
          <p:nvPr/>
        </p:nvSpPr>
        <p:spPr>
          <a:xfrm>
            <a:off x="6369185" y="2591677"/>
            <a:ext cx="4392724" cy="8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Segoe UI" panose="020B0502040204020203" pitchFamily="34" charset="0"/>
                <a:ea typeface="Noto Sans" pitchFamily="34" charset="-122"/>
                <a:cs typeface="Segoe UI" panose="020B0502040204020203" pitchFamily="34" charset="0"/>
              </a:rPr>
              <a:t>Inventory management, customer tracking, and purchase history.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234749BD-6679-6007-D91C-2165CB46E518}"/>
              </a:ext>
            </a:extLst>
          </p:cNvPr>
          <p:cNvSpPr/>
          <p:nvPr/>
        </p:nvSpPr>
        <p:spPr>
          <a:xfrm>
            <a:off x="1127240" y="4477122"/>
            <a:ext cx="9841744" cy="1456972"/>
          </a:xfrm>
          <a:prstGeom prst="roundRect">
            <a:avLst>
              <a:gd name="adj" fmla="val 2038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21629628-3F57-2313-DBD7-54CE651ADF43}"/>
              </a:ext>
            </a:extLst>
          </p:cNvPr>
          <p:cNvSpPr/>
          <p:nvPr/>
        </p:nvSpPr>
        <p:spPr>
          <a:xfrm>
            <a:off x="1316247" y="4666134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E0D6DE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Key Feature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666C755-F58A-85EB-13FE-F5E2336D45D7}"/>
              </a:ext>
            </a:extLst>
          </p:cNvPr>
          <p:cNvSpPr/>
          <p:nvPr/>
        </p:nvSpPr>
        <p:spPr>
          <a:xfrm>
            <a:off x="1316247" y="5074816"/>
            <a:ext cx="84032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Segoe UI" panose="020B0502040204020203" pitchFamily="34" charset="0"/>
                <a:ea typeface="Noto Sans" pitchFamily="34" charset="-122"/>
                <a:cs typeface="Segoe UI" panose="020B0502040204020203" pitchFamily="34" charset="0"/>
              </a:rPr>
              <a:t>Seamless integration of car inventory with customer relationship management.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593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529165-ABF2-1321-9CF2-2B9346B5E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0816A5-DE20-D79D-77EC-5433BE906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060" y="0"/>
            <a:ext cx="83898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097131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40E0F5-059C-DF2D-1664-A7E45BC06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917A0C-7337-C83E-A062-3B234D320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763" y="0"/>
            <a:ext cx="84884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619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1EC282-2142-79A5-6EBF-1B3377BC8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8EC442AF-B9C2-A11A-B8AD-AE1D14DCAF21}"/>
              </a:ext>
            </a:extLst>
          </p:cNvPr>
          <p:cNvSpPr/>
          <p:nvPr/>
        </p:nvSpPr>
        <p:spPr>
          <a:xfrm>
            <a:off x="661475" y="2758579"/>
            <a:ext cx="6296860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97B8FF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Testing Strategy</a:t>
            </a:r>
            <a:endParaRPr lang="en-US" sz="5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F3F3B19-DBD0-CF17-52A4-43C586309EF5}"/>
              </a:ext>
            </a:extLst>
          </p:cNvPr>
          <p:cNvSpPr/>
          <p:nvPr/>
        </p:nvSpPr>
        <p:spPr>
          <a:xfrm>
            <a:off x="661475" y="3857228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Segoe UI" panose="020B0502040204020203" pitchFamily="34" charset="0"/>
                <a:ea typeface="Noto Sans" pitchFamily="34" charset="-122"/>
                <a:cs typeface="Segoe UI" panose="020B0502040204020203" pitchFamily="34" charset="0"/>
              </a:rPr>
              <a:t>An overview of the frameworks, methodologies, and coverage goals guiding quality assurance for the Car Shop Management System.</a:t>
            </a:r>
            <a:endParaRPr lang="en-US" sz="14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3552B1-8ED5-6253-1966-E87FB46D1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520064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297865-0B9B-9680-6EEC-0DF990E86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6912910-DEEC-ED69-0DEA-1F24FCECD1C3}"/>
              </a:ext>
            </a:extLst>
          </p:cNvPr>
          <p:cNvSpPr/>
          <p:nvPr/>
        </p:nvSpPr>
        <p:spPr>
          <a:xfrm>
            <a:off x="2397662" y="368284"/>
            <a:ext cx="758717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Testing Framework &amp; Approach</a:t>
            </a:r>
            <a:endParaRPr lang="en-US" sz="3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46CEDE06-F85B-EC1E-87AB-E1C7A3B52327}"/>
              </a:ext>
            </a:extLst>
          </p:cNvPr>
          <p:cNvSpPr/>
          <p:nvPr/>
        </p:nvSpPr>
        <p:spPr>
          <a:xfrm>
            <a:off x="8032251" y="2105918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97B8FF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Framework</a:t>
            </a:r>
            <a:endParaRPr lang="en-US" sz="18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1A5A0F32-79F6-4F0D-F15F-9378A1B2914E}"/>
              </a:ext>
            </a:extLst>
          </p:cNvPr>
          <p:cNvSpPr/>
          <p:nvPr/>
        </p:nvSpPr>
        <p:spPr>
          <a:xfrm>
            <a:off x="8032251" y="2590205"/>
            <a:ext cx="350421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Segoe UI" panose="020B0502040204020203" pitchFamily="34" charset="0"/>
                <a:ea typeface="Noto Sans Bold" pitchFamily="34" charset="-122"/>
                <a:cs typeface="Segoe UI" panose="020B0502040204020203" pitchFamily="34" charset="0"/>
              </a:rPr>
              <a:t>JUnit 4</a:t>
            </a:r>
            <a:r>
              <a:rPr lang="en-US" sz="1450" dirty="0">
                <a:solidFill>
                  <a:srgbClr val="E0D6DE"/>
                </a:solidFill>
                <a:latin typeface="Segoe UI" panose="020B0502040204020203" pitchFamily="34" charset="0"/>
                <a:ea typeface="Noto Sans" pitchFamily="34" charset="-122"/>
                <a:cs typeface="Segoe UI" panose="020B0502040204020203" pitchFamily="34" charset="0"/>
              </a:rPr>
              <a:t> serves as the backbone for all automated testing across the system.</a:t>
            </a:r>
            <a:endParaRPr lang="en-US" sz="14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4FBF98B1-C1B8-FC18-1A44-5DB0173321DA}"/>
              </a:ext>
            </a:extLst>
          </p:cNvPr>
          <p:cNvSpPr/>
          <p:nvPr/>
        </p:nvSpPr>
        <p:spPr>
          <a:xfrm>
            <a:off x="8032251" y="3686473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97B8FF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Testing Methodology</a:t>
            </a:r>
            <a:endParaRPr lang="en-US" sz="18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920E61F5-8C96-AD09-CB73-579D98870ED8}"/>
              </a:ext>
            </a:extLst>
          </p:cNvPr>
          <p:cNvSpPr/>
          <p:nvPr/>
        </p:nvSpPr>
        <p:spPr>
          <a:xfrm>
            <a:off x="8032251" y="4170759"/>
            <a:ext cx="3242106" cy="1695020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0D6DE"/>
                </a:solidFill>
                <a:latin typeface="Segoe UI" panose="020B0502040204020203" pitchFamily="34" charset="0"/>
                <a:ea typeface="Noto Sans Bold" pitchFamily="34" charset="-122"/>
                <a:cs typeface="Segoe UI" panose="020B0502040204020203" pitchFamily="34" charset="0"/>
              </a:rPr>
              <a:t>Unit Testing:</a:t>
            </a:r>
            <a:r>
              <a:rPr lang="en-US" sz="1450" dirty="0">
                <a:solidFill>
                  <a:srgbClr val="E0D6DE"/>
                </a:solidFill>
                <a:latin typeface="Segoe UI" panose="020B0502040204020203" pitchFamily="34" charset="0"/>
                <a:ea typeface="Noto Sans" pitchFamily="34" charset="-122"/>
                <a:cs typeface="Segoe UI" panose="020B0502040204020203" pitchFamily="34" charset="0"/>
              </a:rPr>
              <a:t> To test individual methods in  isolation</a:t>
            </a:r>
            <a:endParaRPr lang="en-US" sz="145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0D6DE"/>
                </a:solidFill>
                <a:latin typeface="Segoe UI" panose="020B0502040204020203" pitchFamily="34" charset="0"/>
                <a:ea typeface="Noto Sans Bold" pitchFamily="34" charset="-122"/>
                <a:cs typeface="Segoe UI" panose="020B0502040204020203" pitchFamily="34" charset="0"/>
              </a:rPr>
              <a:t>Parameterized Testing:</a:t>
            </a:r>
            <a:r>
              <a:rPr lang="en-US" sz="1450" dirty="0">
                <a:solidFill>
                  <a:srgbClr val="E0D6DE"/>
                </a:solidFill>
                <a:latin typeface="Segoe UI" panose="020B0502040204020203" pitchFamily="34" charset="0"/>
                <a:ea typeface="Noto Sans" pitchFamily="34" charset="-122"/>
                <a:cs typeface="Segoe UI" panose="020B0502040204020203" pitchFamily="34" charset="0"/>
              </a:rPr>
              <a:t> To run tests multiple times with different inputs.</a:t>
            </a:r>
            <a:endParaRPr lang="en-US" sz="14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3E33606-B358-709F-39CB-56A69DA22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31" y="1123951"/>
            <a:ext cx="7587175" cy="5490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1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B3CCA2-FC37-1C75-42E3-2CC54C146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3B0ADAD-4B5D-7914-D18B-B91E663149BD}"/>
              </a:ext>
            </a:extLst>
          </p:cNvPr>
          <p:cNvSpPr/>
          <p:nvPr/>
        </p:nvSpPr>
        <p:spPr>
          <a:xfrm>
            <a:off x="661475" y="666750"/>
            <a:ext cx="11120950" cy="1352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Inventory Management Testing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(</a:t>
            </a:r>
            <a:r>
              <a:rPr lang="en-US" sz="3700" dirty="0" err="1">
                <a:solidFill>
                  <a:srgbClr val="97B8FF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CarShopTest</a:t>
            </a:r>
            <a:r>
              <a:rPr lang="en-US" sz="3700" dirty="0">
                <a:solidFill>
                  <a:srgbClr val="97B8FF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)</a:t>
            </a:r>
            <a:endParaRPr lang="en-US" sz="3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E7DB3AF9-60D1-EBF7-FB05-E418111C54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396060"/>
            <a:ext cx="472468" cy="472480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03DE6C90-DE48-E34B-0ED4-D712951CD3FA}"/>
              </a:ext>
            </a:extLst>
          </p:cNvPr>
          <p:cNvSpPr/>
          <p:nvPr/>
        </p:nvSpPr>
        <p:spPr>
          <a:xfrm>
            <a:off x="1370177" y="3396060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Core Operations</a:t>
            </a:r>
            <a:endParaRPr lang="en-US" sz="18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647DBD26-A338-C000-2EE2-4A6C56CE3DCF}"/>
              </a:ext>
            </a:extLst>
          </p:cNvPr>
          <p:cNvSpPr/>
          <p:nvPr/>
        </p:nvSpPr>
        <p:spPr>
          <a:xfrm>
            <a:off x="1370177" y="3804742"/>
            <a:ext cx="275672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Segoe UI" panose="020B0502040204020203" pitchFamily="34" charset="0"/>
                <a:ea typeface="Noto Sans" pitchFamily="34" charset="-122"/>
                <a:cs typeface="Segoe UI" panose="020B0502040204020203" pitchFamily="34" charset="0"/>
              </a:rPr>
              <a:t>Validates add, remove, and filter vehicle operations across the full inventory lifecycle.</a:t>
            </a:r>
            <a:endParaRPr lang="en-US" sz="14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8F89799E-99EA-0C4B-91AE-9490204A29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3396060"/>
            <a:ext cx="472468" cy="472480"/>
          </a:xfrm>
          <a:prstGeom prst="rect">
            <a:avLst/>
          </a:prstGeom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C2E8E1F1-9E96-E038-79AF-72A1E49B6C20}"/>
              </a:ext>
            </a:extLst>
          </p:cNvPr>
          <p:cNvSpPr/>
          <p:nvPr/>
        </p:nvSpPr>
        <p:spPr>
          <a:xfrm>
            <a:off x="5071836" y="3396060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Search Mechanisms</a:t>
            </a:r>
            <a:endParaRPr lang="en-US" sz="18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E206CCA3-6DAC-3C46-FEF4-7895D1241FF6}"/>
              </a:ext>
            </a:extLst>
          </p:cNvPr>
          <p:cNvSpPr/>
          <p:nvPr/>
        </p:nvSpPr>
        <p:spPr>
          <a:xfrm>
            <a:off x="5071836" y="3804742"/>
            <a:ext cx="275672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Segoe UI" panose="020B0502040204020203" pitchFamily="34" charset="0"/>
                <a:ea typeface="Noto Sans" pitchFamily="34" charset="-122"/>
                <a:cs typeface="Segoe UI" panose="020B0502040204020203" pitchFamily="34" charset="0"/>
              </a:rPr>
              <a:t>Tests for finding the most expensive, cheapest, and vehicles searched by make.</a:t>
            </a:r>
            <a:endParaRPr lang="en-US" sz="14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187A8FF3-546F-4B9F-1750-73F919F597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3396060"/>
            <a:ext cx="472468" cy="472480"/>
          </a:xfrm>
          <a:prstGeom prst="rect">
            <a:avLst/>
          </a:prstGeom>
        </p:spPr>
      </p:pic>
      <p:sp>
        <p:nvSpPr>
          <p:cNvPr id="19" name="Text 5">
            <a:extLst>
              <a:ext uri="{FF2B5EF4-FFF2-40B4-BE49-F238E27FC236}">
                <a16:creationId xmlns:a16="http://schemas.microsoft.com/office/drawing/2014/main" id="{F3442F83-5DF6-0ABD-3ECF-D41734761912}"/>
              </a:ext>
            </a:extLst>
          </p:cNvPr>
          <p:cNvSpPr/>
          <p:nvPr/>
        </p:nvSpPr>
        <p:spPr>
          <a:xfrm>
            <a:off x="8773496" y="3396060"/>
            <a:ext cx="275672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Validation &amp; Exception Handling</a:t>
            </a:r>
            <a:endParaRPr lang="en-US" sz="18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09E300CC-9D1C-340A-F7B4-CB1054967753}"/>
              </a:ext>
            </a:extLst>
          </p:cNvPr>
          <p:cNvSpPr/>
          <p:nvPr/>
        </p:nvSpPr>
        <p:spPr>
          <a:xfrm>
            <a:off x="8773496" y="4100017"/>
            <a:ext cx="275672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Segoe UI" panose="020B0502040204020203" pitchFamily="34" charset="0"/>
                <a:ea typeface="Noto Sans" pitchFamily="34" charset="-122"/>
                <a:cs typeface="Segoe UI" panose="020B0502040204020203" pitchFamily="34" charset="0"/>
              </a:rPr>
              <a:t>Covers invalid operations such as negative prices and out-of-bounds inputs.</a:t>
            </a:r>
            <a:endParaRPr lang="en-US" sz="14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7BD055-BE3A-1BEC-A3F1-7314C8952274}"/>
              </a:ext>
            </a:extLst>
          </p:cNvPr>
          <p:cNvSpPr txBox="1"/>
          <p:nvPr/>
        </p:nvSpPr>
        <p:spPr>
          <a:xfrm>
            <a:off x="3152775" y="2362737"/>
            <a:ext cx="5743111" cy="4501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0D6DE"/>
                </a:solidFill>
                <a:effectLst/>
                <a:uLnTx/>
                <a:uFillTx/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Focus: Core inventory management logic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418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861FB2-E234-5BD8-798E-6C724718E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019980-2283-37D8-1E44-1C432B217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441" y="566338"/>
            <a:ext cx="8907118" cy="572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118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90429-8BCA-C044-7129-633F068B0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58EC8D2-042C-E1D8-95F8-F5A0ED5D613A}"/>
              </a:ext>
            </a:extLst>
          </p:cNvPr>
          <p:cNvSpPr/>
          <p:nvPr/>
        </p:nvSpPr>
        <p:spPr>
          <a:xfrm>
            <a:off x="661475" y="610791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97B8FF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Customer Management Testing(</a:t>
            </a:r>
            <a:r>
              <a:rPr lang="en-US" sz="3500" dirty="0" err="1">
                <a:solidFill>
                  <a:srgbClr val="97B8FF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CustomerTest</a:t>
            </a:r>
            <a:r>
              <a:rPr lang="en-US" sz="3500" dirty="0">
                <a:solidFill>
                  <a:srgbClr val="97B8FF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)</a:t>
            </a:r>
            <a:endParaRPr lang="en-US" sz="3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1838654-A993-DF5B-9C2B-C582AD81B397}"/>
              </a:ext>
            </a:extLst>
          </p:cNvPr>
          <p:cNvSpPr/>
          <p:nvPr/>
        </p:nvSpPr>
        <p:spPr>
          <a:xfrm>
            <a:off x="661475" y="1598414"/>
            <a:ext cx="683470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97B8FF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Focus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890D04B2-BA6F-2759-1CF7-69706D646AB1}"/>
              </a:ext>
            </a:extLst>
          </p:cNvPr>
          <p:cNvSpPr/>
          <p:nvPr/>
        </p:nvSpPr>
        <p:spPr>
          <a:xfrm>
            <a:off x="661475" y="2049463"/>
            <a:ext cx="3519201" cy="655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egoe UI" panose="020B0502040204020203" pitchFamily="34" charset="0"/>
                <a:ea typeface="Noto Sans" pitchFamily="34" charset="-122"/>
                <a:cs typeface="Segoe UI" panose="020B0502040204020203" pitchFamily="34" charset="0"/>
              </a:rPr>
              <a:t>User-centric logic and customer-related operations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F1FCBDE-B5CB-06D2-AD5B-99CED6A35543}"/>
              </a:ext>
            </a:extLst>
          </p:cNvPr>
          <p:cNvSpPr/>
          <p:nvPr/>
        </p:nvSpPr>
        <p:spPr>
          <a:xfrm>
            <a:off x="661475" y="3060303"/>
            <a:ext cx="351920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97B8FF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CustomerTest.java Highlights</a:t>
            </a: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2B30FF05-2334-B6D9-3FCE-5732B24FF953}"/>
              </a:ext>
            </a:extLst>
          </p:cNvPr>
          <p:cNvSpPr/>
          <p:nvPr/>
        </p:nvSpPr>
        <p:spPr>
          <a:xfrm>
            <a:off x="661475" y="3511352"/>
            <a:ext cx="3662875" cy="1917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0D6DE"/>
                </a:solidFill>
                <a:latin typeface="Segoe UI" panose="020B0502040204020203" pitchFamily="34" charset="0"/>
                <a:ea typeface="Noto Sans" pitchFamily="34" charset="-122"/>
                <a:cs typeface="Segoe UI" panose="020B0502040204020203" pitchFamily="34" charset="0"/>
              </a:rPr>
              <a:t>Verified total spent calculations and VIP status designation.</a:t>
            </a:r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0D6DE"/>
                </a:solidFill>
                <a:latin typeface="Segoe UI" panose="020B0502040204020203" pitchFamily="34" charset="0"/>
                <a:ea typeface="Noto Sans" pitchFamily="34" charset="-122"/>
                <a:cs typeface="Segoe UI" panose="020B0502040204020203" pitchFamily="34" charset="0"/>
              </a:rPr>
              <a:t>Tested tracking logic for identifying the most expensive purchase.</a:t>
            </a:r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0D6DE"/>
                </a:solidFill>
                <a:latin typeface="Segoe UI" panose="020B0502040204020203" pitchFamily="34" charset="0"/>
                <a:ea typeface="Noto Sans" pitchFamily="34" charset="-122"/>
                <a:cs typeface="Segoe UI" panose="020B0502040204020203" pitchFamily="34" charset="0"/>
              </a:rPr>
              <a:t>Validated historical purchase patterns (e.g., counting purchases by year).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1211CF7-3A3E-25D0-2770-62CA39227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122" y="2049463"/>
            <a:ext cx="6668098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3999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A75F34-FC3B-65FF-3D61-BBD067DE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750FAB59-192A-CDB5-D80F-3A7FA0869D85}"/>
              </a:ext>
            </a:extLst>
          </p:cNvPr>
          <p:cNvSpPr/>
          <p:nvPr/>
        </p:nvSpPr>
        <p:spPr>
          <a:xfrm>
            <a:off x="661475" y="63400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Commuter Vehicle Testing(</a:t>
            </a:r>
            <a:r>
              <a:rPr lang="en-US" sz="3700" dirty="0" err="1">
                <a:solidFill>
                  <a:srgbClr val="97B8FF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CommuterTest</a:t>
            </a:r>
            <a:r>
              <a:rPr lang="en-US" sz="3700" dirty="0">
                <a:solidFill>
                  <a:srgbClr val="97B8FF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)</a:t>
            </a:r>
            <a:endParaRPr lang="en-US" sz="3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9" name="Text 1">
            <a:extLst>
              <a:ext uri="{FF2B5EF4-FFF2-40B4-BE49-F238E27FC236}">
                <a16:creationId xmlns:a16="http://schemas.microsoft.com/office/drawing/2014/main" id="{447AF40D-8927-807D-1DA8-70FB8E740819}"/>
              </a:ext>
            </a:extLst>
          </p:cNvPr>
          <p:cNvSpPr/>
          <p:nvPr/>
        </p:nvSpPr>
        <p:spPr>
          <a:xfrm>
            <a:off x="661475" y="1598414"/>
            <a:ext cx="683470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97B8FF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Focus</a:t>
            </a:r>
          </a:p>
        </p:txBody>
      </p:sp>
      <p:sp>
        <p:nvSpPr>
          <p:cNvPr id="41" name="Text 2">
            <a:extLst>
              <a:ext uri="{FF2B5EF4-FFF2-40B4-BE49-F238E27FC236}">
                <a16:creationId xmlns:a16="http://schemas.microsoft.com/office/drawing/2014/main" id="{1462A5E0-B8AD-BA3A-655E-0112A754F3AC}"/>
              </a:ext>
            </a:extLst>
          </p:cNvPr>
          <p:cNvSpPr/>
          <p:nvPr/>
        </p:nvSpPr>
        <p:spPr>
          <a:xfrm>
            <a:off x="661475" y="2049463"/>
            <a:ext cx="3519201" cy="655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egoe UI" panose="020B0502040204020203" pitchFamily="34" charset="0"/>
                <a:ea typeface="Noto Sans" pitchFamily="34" charset="-122"/>
                <a:cs typeface="Segoe UI" panose="020B0502040204020203" pitchFamily="34" charset="0"/>
              </a:rPr>
              <a:t>Business logic and specifications for commuter vehicles.</a:t>
            </a: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D1CF6A0A-18FE-840B-CA58-80AB5DE4E89E}"/>
              </a:ext>
            </a:extLst>
          </p:cNvPr>
          <p:cNvSpPr/>
          <p:nvPr/>
        </p:nvSpPr>
        <p:spPr>
          <a:xfrm>
            <a:off x="661475" y="3060303"/>
            <a:ext cx="351920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97B8FF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CommuterTest.java Highlights</a:t>
            </a:r>
          </a:p>
        </p:txBody>
      </p:sp>
      <p:sp>
        <p:nvSpPr>
          <p:cNvPr id="45" name="Text 4">
            <a:extLst>
              <a:ext uri="{FF2B5EF4-FFF2-40B4-BE49-F238E27FC236}">
                <a16:creationId xmlns:a16="http://schemas.microsoft.com/office/drawing/2014/main" id="{8A2C7924-DE66-D7DF-5C2C-B042AE82E922}"/>
              </a:ext>
            </a:extLst>
          </p:cNvPr>
          <p:cNvSpPr/>
          <p:nvPr/>
        </p:nvSpPr>
        <p:spPr>
          <a:xfrm>
            <a:off x="661475" y="3511352"/>
            <a:ext cx="3662875" cy="2603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0D6DE"/>
                </a:solidFill>
                <a:latin typeface="Segoe UI" panose="020B0502040204020203" pitchFamily="34" charset="0"/>
                <a:ea typeface="Noto Sans" pitchFamily="34" charset="-122"/>
                <a:cs typeface="Segoe UI" panose="020B0502040204020203" pitchFamily="34" charset="0"/>
              </a:rPr>
              <a:t>Tested financial estimators: depreciation, insurance, and travel costs.</a:t>
            </a:r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0D6DE"/>
                </a:solidFill>
                <a:latin typeface="Segoe UI" panose="020B0502040204020203" pitchFamily="34" charset="0"/>
                <a:ea typeface="Noto Sans" pitchFamily="34" charset="-122"/>
                <a:cs typeface="Segoe UI" panose="020B0502040204020203" pitchFamily="34" charset="0"/>
              </a:rPr>
              <a:t>Evaluated practical classifications: luggage capacity and efficiency.</a:t>
            </a:r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0D6DE"/>
                </a:solidFill>
                <a:latin typeface="Segoe UI" panose="020B0502040204020203" pitchFamily="34" charset="0"/>
                <a:ea typeface="Noto Sans" pitchFamily="34" charset="-122"/>
                <a:cs typeface="Segoe UI" panose="020B0502040204020203" pitchFamily="34" charset="0"/>
              </a:rPr>
              <a:t>Verified the logic for identifying antique vehicles based on the manufacturing year.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C4C5CADD-783B-E680-3949-587CFA774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650" y="1878905"/>
            <a:ext cx="7381875" cy="422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31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30B31D-B193-EA7E-6C9F-1BD6938C0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A2BA795F-F6FC-495A-2208-3DC892EAADA6}"/>
              </a:ext>
            </a:extLst>
          </p:cNvPr>
          <p:cNvSpPr/>
          <p:nvPr/>
        </p:nvSpPr>
        <p:spPr>
          <a:xfrm>
            <a:off x="409576" y="512962"/>
            <a:ext cx="1008242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High-Performance Vehicle Testing(</a:t>
            </a:r>
            <a:r>
              <a:rPr lang="en-US" sz="3700" dirty="0" err="1">
                <a:solidFill>
                  <a:srgbClr val="97B8FF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SportsTest</a:t>
            </a:r>
            <a:r>
              <a:rPr lang="en-US" sz="3700" dirty="0">
                <a:solidFill>
                  <a:srgbClr val="97B8FF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)</a:t>
            </a:r>
            <a:endParaRPr lang="en-US" sz="3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134F2471-5161-EF07-8BDD-5B4CDE33A8AD}"/>
              </a:ext>
            </a:extLst>
          </p:cNvPr>
          <p:cNvSpPr/>
          <p:nvPr/>
        </p:nvSpPr>
        <p:spPr>
          <a:xfrm>
            <a:off x="661475" y="1598414"/>
            <a:ext cx="683470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97B8FF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Focus</a:t>
            </a:r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FEC7DFA6-4F5E-5334-A964-06EFA15DFE3C}"/>
              </a:ext>
            </a:extLst>
          </p:cNvPr>
          <p:cNvSpPr/>
          <p:nvPr/>
        </p:nvSpPr>
        <p:spPr>
          <a:xfrm>
            <a:off x="661475" y="2049463"/>
            <a:ext cx="3519201" cy="655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egoe UI" panose="020B0502040204020203" pitchFamily="34" charset="0"/>
                <a:ea typeface="Noto Sans" pitchFamily="34" charset="-122"/>
                <a:cs typeface="Segoe UI" panose="020B0502040204020203" pitchFamily="34" charset="0"/>
              </a:rPr>
              <a:t>Distinct attributes of sports and high-performance cars.</a:t>
            </a:r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A2DD4E1C-EADE-48F5-0A11-78E643C4EECF}"/>
              </a:ext>
            </a:extLst>
          </p:cNvPr>
          <p:cNvSpPr/>
          <p:nvPr/>
        </p:nvSpPr>
        <p:spPr>
          <a:xfrm>
            <a:off x="661475" y="3060303"/>
            <a:ext cx="351920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97B8FF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SportsTest.java Highlights</a:t>
            </a:r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AFE77C74-254F-4CCF-1730-5A02DAE74291}"/>
              </a:ext>
            </a:extLst>
          </p:cNvPr>
          <p:cNvSpPr/>
          <p:nvPr/>
        </p:nvSpPr>
        <p:spPr>
          <a:xfrm>
            <a:off x="661475" y="3511352"/>
            <a:ext cx="3662875" cy="2603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0D6DE"/>
                </a:solidFill>
                <a:latin typeface="Segoe UI" panose="020B0502040204020203" pitchFamily="34" charset="0"/>
                <a:ea typeface="Noto Sans" pitchFamily="34" charset="-122"/>
                <a:cs typeface="Segoe UI" panose="020B0502040204020203" pitchFamily="34" charset="0"/>
              </a:rPr>
              <a:t>Validated performance categorizations (e.g., 'Is Track Ready', 'Is Hypercar').</a:t>
            </a:r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0D6DE"/>
                </a:solidFill>
                <a:latin typeface="Segoe UI" panose="020B0502040204020203" pitchFamily="34" charset="0"/>
                <a:ea typeface="Noto Sans" pitchFamily="34" charset="-122"/>
                <a:cs typeface="Segoe UI" panose="020B0502040204020203" pitchFamily="34" charset="0"/>
              </a:rPr>
              <a:t>Tested specific metric estimators like quarter-mile time calculations.</a:t>
            </a:r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0D6DE"/>
                </a:solidFill>
                <a:latin typeface="Segoe UI" panose="020B0502040204020203" pitchFamily="34" charset="0"/>
                <a:ea typeface="Noto Sans" pitchFamily="34" charset="-122"/>
                <a:cs typeface="Segoe UI" panose="020B0502040204020203" pitchFamily="34" charset="0"/>
              </a:rPr>
              <a:t>Evaluated comparative logic (e.g., determining drag race winners) and high annual maintenance costs.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CD15065E-5E30-F132-9E9F-6142B691A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605" y="2049463"/>
            <a:ext cx="7244395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74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E2409B-E9A8-CB63-C44D-10CA2AE7B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9E9799-D8B1-6967-14D4-5DCE85FD6C1B}"/>
              </a:ext>
            </a:extLst>
          </p:cNvPr>
          <p:cNvSpPr txBox="1"/>
          <p:nvPr/>
        </p:nvSpPr>
        <p:spPr>
          <a:xfrm>
            <a:off x="4090987" y="2967335"/>
            <a:ext cx="38528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Thank You!</a:t>
            </a: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A3278088-1964-86E1-031E-A0777A0700EC}"/>
              </a:ext>
            </a:extLst>
          </p:cNvPr>
          <p:cNvSpPr/>
          <p:nvPr/>
        </p:nvSpPr>
        <p:spPr>
          <a:xfrm>
            <a:off x="409576" y="211298"/>
            <a:ext cx="10082420" cy="7219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High-Performance Vehicle Testing(</a:t>
            </a:r>
            <a:r>
              <a:rPr lang="en-US" sz="3700" dirty="0" err="1">
                <a:solidFill>
                  <a:srgbClr val="97B8FF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SportsTest</a:t>
            </a:r>
            <a:r>
              <a:rPr lang="en-US" sz="3700" dirty="0">
                <a:solidFill>
                  <a:srgbClr val="97B8FF"/>
                </a:solidFill>
                <a:latin typeface="Segoe UI" panose="020B0502040204020203" pitchFamily="34" charset="0"/>
                <a:ea typeface="Sora Medium" pitchFamily="34" charset="-122"/>
                <a:cs typeface="Segoe UI" panose="020B0502040204020203" pitchFamily="34" charset="0"/>
              </a:rPr>
              <a:t>)</a:t>
            </a:r>
            <a:endParaRPr lang="en-US" sz="3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EFC87F-ED51-0304-453B-779D5F39B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7724" y="895525"/>
            <a:ext cx="6381945" cy="509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654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86F145-0514-005E-5959-AB885F3A2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622EE0-B9AB-A0AE-1E07-6674624F953F}"/>
              </a:ext>
            </a:extLst>
          </p:cNvPr>
          <p:cNvSpPr txBox="1"/>
          <p:nvPr/>
        </p:nvSpPr>
        <p:spPr>
          <a:xfrm>
            <a:off x="4090987" y="2967335"/>
            <a:ext cx="38528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604778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</TotalTime>
  <Words>433</Words>
  <Application>Microsoft Office PowerPoint</Application>
  <PresentationFormat>Widescreen</PresentationFormat>
  <Paragraphs>84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Lenovo</dc:creator>
  <cp:lastModifiedBy>mahirahossain11@gmail.com</cp:lastModifiedBy>
  <cp:revision>6</cp:revision>
  <dcterms:created xsi:type="dcterms:W3CDTF">2026-08-19T18:08:47Z</dcterms:created>
  <dcterms:modified xsi:type="dcterms:W3CDTF">2026-08-20T01:04:38Z</dcterms:modified>
</cp:coreProperties>
</file>